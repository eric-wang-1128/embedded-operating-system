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ED120-C490-4D4C-93E7-1729992E9DE3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F46F-43C9-4365-A39A-FF7C08AF95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555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054D9-55D3-AFA9-B4A2-B21553DDA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FE742DF-10F9-E9C2-B0C2-3D2FC52A0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C159A6-F4BC-B4EB-0B88-ACD57E0B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20D4AD-23DC-1110-C3B4-9E8F9DFD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B0B12E-A6AB-B9B9-A487-5E767778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270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52A855-B487-99A0-4D14-AC90E129B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2A9FCC-3EAC-74E7-CDBB-09809DCFE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0A4C29-A130-642E-D279-5519D7369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5FC429-AB15-E218-6B10-FF4EB3C1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13940E-B34F-FCD6-7CAE-65C3594BF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3434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C16521-E80F-6DF3-418B-92F6721B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6A698F-24EC-A309-5562-1BA976107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CFCB4C-4FAF-A0E4-4B7F-368B73F6C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1E93F8-2132-AEA3-C9E2-56F5089CD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1445BF-8F1A-6FB3-3050-BCA1933C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8204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E30ABA-B831-B303-0D3E-0E209B905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234E5C-EACB-C760-F926-F907F0A8A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A7C48D3-9E88-F54D-CE71-B60DD7B7A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3C5697D-8B24-D9A6-9FFA-E9B75F4E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A17653-9F08-55AB-2E67-E6A7F0BD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8C237D-54B1-F6EC-17B9-0E2F41B9E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16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664254-24D6-9CE2-FB35-A49287FD6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46E7BC-35D8-5013-685B-3B7ADCAA0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85870F9-6D4D-97AD-E93B-2113CA1AE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7CBC097-6E26-B1EB-1182-86A6A22181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A9CB5F4-1CE3-16F8-FAF9-8A41CCDD8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10941ED-65F1-F641-0694-3BF009B68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7C4904E-6FF1-D343-AADC-97548A09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71EF2C0-5D05-9D3B-4EDA-2830EC63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0960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98CC23-09D1-5F12-EE53-B07E2FDC2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ED9569A-06A5-C734-BBF5-F1D3DA0D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D65389A-E531-B4E8-5E38-37CAD8269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AF14BF-B657-4607-DDB1-7702BADEC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489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675BA60-A242-CA5C-A632-9D5536482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B530E93-5FE3-ACA7-78E5-CB94F03E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0268DE-EBEB-748B-8759-161E2868A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310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23DFF0-E604-55E3-8A52-7D5626C67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33F15D-3CD8-D51D-4A24-AA80A634E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097C04B-6BF0-1285-B35D-F8934AAE3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649F2A-1715-9B23-A27A-7D199851F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12B3A6-7286-2236-6D26-747B6F57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93A4A7-8AE7-AB0D-E6C9-A8A197204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203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40023B-4289-3E60-5AF2-FBBF59395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9B2A60E-6E9F-C0D2-F600-EF7CB5CC0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D233A0A-7921-F16D-D525-61FFF1926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D206958-11CB-8643-14C1-420FBFC2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C2B7A91-5680-2A08-63C6-BF6489D09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F2EF853-D03A-D7A7-9ACD-356E37D75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3528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A5D103-690F-B467-5D02-26C0B8A70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DE30170-19EF-E3EC-4A6A-BAA829AB5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E39EB3-8DBD-C7D3-135E-3FE1738D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E33FBF-5210-391A-D15C-5281DE3BC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CBB37A-2FFE-40B4-C34B-2A35B273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52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615AAFA-41DC-007B-A2C4-F14B272B7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A92590E-013C-EE37-83E8-2A4AA80C3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25817E-A7A7-237F-09F3-29B50E33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005D42-20C6-36E0-F3AE-B33AFCE0E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2D84A1-E5ED-4339-6BF2-E012B09F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606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0E37627-2E17-853C-5A4A-EBBB25433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AD5531-93E0-0474-98AB-C14C1A093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5F0950-2155-D255-BB5C-B1838C12A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4628F-6AB5-47E6-A5EA-87A9DDDA9CD0}" type="datetimeFigureOut">
              <a:rPr lang="zh-TW" altLang="en-US" smtClean="0"/>
              <a:t>2025/4/25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C0A327-6824-7BB8-5FEB-6DE8A7ADB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94FF99-F091-1A62-5405-E0CA6F793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F9513-BEE8-40FD-8D62-0CA4565A21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05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A14C3-665F-E9AA-DD36-C0F38AFF7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嵌入式作業系統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ICP4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12BCC4F-F251-A14B-7986-6B2E46603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22537"/>
          </a:xfrm>
        </p:spPr>
        <p:txBody>
          <a:bodyPr>
            <a:normAutofit/>
          </a:bodyPr>
          <a:lstStyle/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組員：王睿讚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吳冠霆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潘柏翰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657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C30D5BDF-E246-D115-B2EA-C0F62BDC1EC9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359E8D7B-E680-C562-BCEA-04AB57BDF501}"/>
              </a:ext>
            </a:extLst>
          </p:cNvPr>
          <p:cNvSpPr txBox="1"/>
          <p:nvPr/>
        </p:nvSpPr>
        <p:spPr>
          <a:xfrm>
            <a:off x="508001" y="298878"/>
            <a:ext cx="6539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5B133F9-B3F7-52BE-C22A-69A4C1B6455B}"/>
              </a:ext>
            </a:extLst>
          </p:cNvPr>
          <p:cNvSpPr txBox="1"/>
          <p:nvPr/>
        </p:nvSpPr>
        <p:spPr>
          <a:xfrm>
            <a:off x="618836" y="1727200"/>
            <a:ext cx="83681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程式初始化完成後，物理記憶體會被以下幾個部分佔據：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(code)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程式資料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(data)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系統堆疊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(system stack)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而剩下的物理記憶體就由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RTOS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用來做動態記憶體配置，這塊剩餘可用記憶體區域就叫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heap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318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4F266F74-3E90-1E81-071C-13907071ED99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380CCF-AD43-BD9F-F4C1-918E3A6BB05F}"/>
              </a:ext>
            </a:extLst>
          </p:cNvPr>
          <p:cNvSpPr txBox="1"/>
          <p:nvPr/>
        </p:nvSpPr>
        <p:spPr>
          <a:xfrm>
            <a:off x="508001" y="298878"/>
            <a:ext cx="6539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Facility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B90CB11-F7A7-6125-0C9A-4AC5F6D3E014}"/>
              </a:ext>
            </a:extLst>
          </p:cNvPr>
          <p:cNvSpPr txBox="1"/>
          <p:nvPr/>
        </p:nvSpPr>
        <p:spPr>
          <a:xfrm>
            <a:off x="600364" y="1727200"/>
            <a:ext cx="97351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作業系統內部會使用控制區塊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(control block)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的資料結構，來記錄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heap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的內部狀態。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控制區塊包含以下資訊：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動態配置區塊的起始位址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整塊記憶體區塊的總大小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紀錄那些記憶體區域已被使用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哪些區域是空閒的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每個空閒區域的大小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31051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D652BFBB-95EA-2DDA-FB28-AB848678065E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94F3DC-36DD-D7C5-E785-09ABCC82AF50}"/>
              </a:ext>
            </a:extLst>
          </p:cNvPr>
          <p:cNvSpPr txBox="1"/>
          <p:nvPr/>
        </p:nvSpPr>
        <p:spPr>
          <a:xfrm>
            <a:off x="508001" y="298878"/>
            <a:ext cx="7084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in Bitmap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31790DD-620A-EF6D-C6EB-1F75C6C71FA4}"/>
              </a:ext>
            </a:extLst>
          </p:cNvPr>
          <p:cNvSpPr txBox="1"/>
          <p:nvPr/>
        </p:nvSpPr>
        <p:spPr>
          <a:xfrm>
            <a:off x="618837" y="1714650"/>
            <a:ext cx="796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記憶體配置和釋放的動作，對應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bitmap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狀態：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7DF22A9-1FE2-8B8E-E3E6-D27ED3693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167455"/>
              </p:ext>
            </p:extLst>
          </p:nvPr>
        </p:nvGraphicFramePr>
        <p:xfrm>
          <a:off x="701964" y="2672696"/>
          <a:ext cx="4858328" cy="29707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7291">
                  <a:extLst>
                    <a:ext uri="{9D8B030D-6E8A-4147-A177-3AD203B41FA5}">
                      <a16:colId xmlns:a16="http://schemas.microsoft.com/office/drawing/2014/main" val="1215404309"/>
                    </a:ext>
                  </a:extLst>
                </a:gridCol>
                <a:gridCol w="607291">
                  <a:extLst>
                    <a:ext uri="{9D8B030D-6E8A-4147-A177-3AD203B41FA5}">
                      <a16:colId xmlns:a16="http://schemas.microsoft.com/office/drawing/2014/main" val="4251431273"/>
                    </a:ext>
                  </a:extLst>
                </a:gridCol>
                <a:gridCol w="607291">
                  <a:extLst>
                    <a:ext uri="{9D8B030D-6E8A-4147-A177-3AD203B41FA5}">
                      <a16:colId xmlns:a16="http://schemas.microsoft.com/office/drawing/2014/main" val="99949104"/>
                    </a:ext>
                  </a:extLst>
                </a:gridCol>
                <a:gridCol w="607291">
                  <a:extLst>
                    <a:ext uri="{9D8B030D-6E8A-4147-A177-3AD203B41FA5}">
                      <a16:colId xmlns:a16="http://schemas.microsoft.com/office/drawing/2014/main" val="4188600350"/>
                    </a:ext>
                  </a:extLst>
                </a:gridCol>
                <a:gridCol w="607291">
                  <a:extLst>
                    <a:ext uri="{9D8B030D-6E8A-4147-A177-3AD203B41FA5}">
                      <a16:colId xmlns:a16="http://schemas.microsoft.com/office/drawing/2014/main" val="3132538058"/>
                    </a:ext>
                  </a:extLst>
                </a:gridCol>
                <a:gridCol w="607291">
                  <a:extLst>
                    <a:ext uri="{9D8B030D-6E8A-4147-A177-3AD203B41FA5}">
                      <a16:colId xmlns:a16="http://schemas.microsoft.com/office/drawing/2014/main" val="2645716743"/>
                    </a:ext>
                  </a:extLst>
                </a:gridCol>
                <a:gridCol w="607291">
                  <a:extLst>
                    <a:ext uri="{9D8B030D-6E8A-4147-A177-3AD203B41FA5}">
                      <a16:colId xmlns:a16="http://schemas.microsoft.com/office/drawing/2014/main" val="2896284854"/>
                    </a:ext>
                  </a:extLst>
                </a:gridCol>
                <a:gridCol w="607291">
                  <a:extLst>
                    <a:ext uri="{9D8B030D-6E8A-4147-A177-3AD203B41FA5}">
                      <a16:colId xmlns:a16="http://schemas.microsoft.com/office/drawing/2014/main" val="1423718838"/>
                    </a:ext>
                  </a:extLst>
                </a:gridCol>
              </a:tblGrid>
              <a:tr h="36689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0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122947"/>
                  </a:ext>
                </a:extLst>
              </a:tr>
              <a:tr h="37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403591"/>
                  </a:ext>
                </a:extLst>
              </a:tr>
              <a:tr h="37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382244"/>
                  </a:ext>
                </a:extLst>
              </a:tr>
              <a:tr h="37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98321"/>
                  </a:ext>
                </a:extLst>
              </a:tr>
              <a:tr h="37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32338"/>
                  </a:ext>
                </a:extLst>
              </a:tr>
              <a:tr h="37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340502"/>
                  </a:ext>
                </a:extLst>
              </a:tr>
              <a:tr h="37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400404"/>
                  </a:ext>
                </a:extLst>
              </a:tr>
              <a:tr h="37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5722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4119980B-02F6-52A1-632C-E5808C127530}"/>
              </a:ext>
            </a:extLst>
          </p:cNvPr>
          <p:cNvSpPr txBox="1"/>
          <p:nvPr/>
        </p:nvSpPr>
        <p:spPr>
          <a:xfrm>
            <a:off x="5763488" y="2679785"/>
            <a:ext cx="509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free block = 256bytes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D99C7DE-DF8D-BE1C-AB7B-B33DE3CF6747}"/>
              </a:ext>
            </a:extLst>
          </p:cNvPr>
          <p:cNvSpPr txBox="1"/>
          <p:nvPr/>
        </p:nvSpPr>
        <p:spPr>
          <a:xfrm>
            <a:off x="5763488" y="3049117"/>
            <a:ext cx="509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 = malloc(120)	1 free block = 128 bytes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92893F1-A1DA-4B8E-933B-6BF33D05181B}"/>
              </a:ext>
            </a:extLst>
          </p:cNvPr>
          <p:cNvSpPr txBox="1"/>
          <p:nvPr/>
        </p:nvSpPr>
        <p:spPr>
          <a:xfrm>
            <a:off x="5763489" y="3418449"/>
            <a:ext cx="509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 = malloc(20)	1 free block = 96 bytes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DC37970-09C8-2F89-84F6-341C7A107C16}"/>
              </a:ext>
            </a:extLst>
          </p:cNvPr>
          <p:cNvSpPr txBox="1"/>
          <p:nvPr/>
        </p:nvSpPr>
        <p:spPr>
          <a:xfrm>
            <a:off x="5763489" y="3787781"/>
            <a:ext cx="509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 = malloc(50)	1 free block = 32 bytes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CC25C06-3B47-0FD1-3C49-1FB7536142DA}"/>
              </a:ext>
            </a:extLst>
          </p:cNvPr>
          <p:cNvSpPr txBox="1"/>
          <p:nvPr/>
        </p:nvSpPr>
        <p:spPr>
          <a:xfrm>
            <a:off x="5763488" y="4170638"/>
            <a:ext cx="509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 = malloc(32)	No free block left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1F65F3C-605A-EE10-BB16-226941CF4E13}"/>
              </a:ext>
            </a:extLst>
          </p:cNvPr>
          <p:cNvSpPr txBox="1"/>
          <p:nvPr/>
        </p:nvSpPr>
        <p:spPr>
          <a:xfrm>
            <a:off x="5763487" y="4563113"/>
            <a:ext cx="509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free(B)		1 free block = 32 bytes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290B3AE-DD39-9BAB-3457-C9095A6D8F0D}"/>
              </a:ext>
            </a:extLst>
          </p:cNvPr>
          <p:cNvSpPr txBox="1"/>
          <p:nvPr/>
        </p:nvSpPr>
        <p:spPr>
          <a:xfrm>
            <a:off x="5763485" y="4918022"/>
            <a:ext cx="509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free(D)		2 free block , 32 bytes each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05562F7-EF85-ADA9-613D-F2A5EEB31B52}"/>
              </a:ext>
            </a:extLst>
          </p:cNvPr>
          <p:cNvSpPr txBox="1"/>
          <p:nvPr/>
        </p:nvSpPr>
        <p:spPr>
          <a:xfrm>
            <a:off x="5763483" y="5271776"/>
            <a:ext cx="509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free(C)		1 free block = 128 bytes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C69B0387-FBEC-A454-A82B-7DBCCB5677B9}"/>
              </a:ext>
            </a:extLst>
          </p:cNvPr>
          <p:cNvCxnSpPr>
            <a:cxnSpLocks/>
          </p:cNvCxnSpPr>
          <p:nvPr/>
        </p:nvCxnSpPr>
        <p:spPr>
          <a:xfrm flipV="1">
            <a:off x="5865091" y="5102688"/>
            <a:ext cx="1727200" cy="9233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06FF45B-2B2A-85D6-6DBD-1BA2F44F373E}"/>
              </a:ext>
            </a:extLst>
          </p:cNvPr>
          <p:cNvSpPr txBox="1"/>
          <p:nvPr/>
        </p:nvSpPr>
        <p:spPr>
          <a:xfrm>
            <a:off x="4064000" y="5869300"/>
            <a:ext cx="180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外部記憶體破碎</a:t>
            </a:r>
          </a:p>
        </p:txBody>
      </p:sp>
    </p:spTree>
    <p:extLst>
      <p:ext uri="{BB962C8B-B14F-4D97-AF65-F5344CB8AC3E}">
        <p14:creationId xmlns:p14="http://schemas.microsoft.com/office/powerpoint/2010/main" val="1169273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5EBD05D7-9BCA-E155-F628-1FF40391CFA4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FD28F173-3048-558C-A890-176DB4FEEAB8}"/>
              </a:ext>
            </a:extLst>
          </p:cNvPr>
          <p:cNvSpPr txBox="1"/>
          <p:nvPr/>
        </p:nvSpPr>
        <p:spPr>
          <a:xfrm>
            <a:off x="508001" y="298878"/>
            <a:ext cx="7084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Fragmentation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868D4CF-73A8-2FDF-47DF-192FF49F753C}"/>
              </a:ext>
            </a:extLst>
          </p:cNvPr>
          <p:cNvSpPr txBox="1"/>
          <p:nvPr/>
        </p:nvSpPr>
        <p:spPr>
          <a:xfrm>
            <a:off x="618836" y="1745673"/>
            <a:ext cx="85066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內部破碎：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malloc()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申請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 bytes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的記憶體空間，此時系統會分配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128 bytes (4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32bytes)</a:t>
            </a: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導致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 bytes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的浪費，這種浪費叫做內部破碎，發生於配置單位大於實際需求時。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外部破碎：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如果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allocation table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中有兩個不相鄰的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free block = 32 bytes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，但由於這兩個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free block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無法合併，所以無法分配超過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 bytes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的申請，這叫做外部破碎。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可以用記憶體壓縮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(Memory Compaction)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來合併記憶體空間。</a:t>
            </a:r>
          </a:p>
        </p:txBody>
      </p:sp>
    </p:spTree>
    <p:extLst>
      <p:ext uri="{BB962C8B-B14F-4D97-AF65-F5344CB8AC3E}">
        <p14:creationId xmlns:p14="http://schemas.microsoft.com/office/powerpoint/2010/main" val="903915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8C863730-1322-7193-9C71-5714B8D165AC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3A3324E-8547-B4EF-7C70-04BC81E3A0CD}"/>
              </a:ext>
            </a:extLst>
          </p:cNvPr>
          <p:cNvSpPr txBox="1"/>
          <p:nvPr/>
        </p:nvSpPr>
        <p:spPr>
          <a:xfrm>
            <a:off x="508001" y="298878"/>
            <a:ext cx="7084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Pool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F0A96F8-62C7-35A1-39C3-CF9AC8015E85}"/>
              </a:ext>
            </a:extLst>
          </p:cNvPr>
          <p:cNvSpPr txBox="1"/>
          <p:nvPr/>
        </p:nvSpPr>
        <p:spPr>
          <a:xfrm>
            <a:off x="609600" y="1865745"/>
            <a:ext cx="94765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記憶體空間被劃分為多個不同大小的區塊池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同一個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pool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中的所有區塊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(block)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大小相同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分配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(Allocation)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		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回收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(Deallocation)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區塊會從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pool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中取出並標記為使用中。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區塊會插回對應的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pool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並標記空閒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無須搜尋整體記憶體空間。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無需進行進行區塊合併或碎裂處理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18043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07B68D3E-97DD-4A78-6741-D7BB6940B612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FBC042B-D0F0-3A15-FD50-1EF986AB3A1F}"/>
              </a:ext>
            </a:extLst>
          </p:cNvPr>
          <p:cNvSpPr txBox="1"/>
          <p:nvPr/>
        </p:nvSpPr>
        <p:spPr>
          <a:xfrm>
            <a:off x="508001" y="298878"/>
            <a:ext cx="7084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Blocking vs Non-Blocking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809F40A-F116-D9CB-6855-7A2B889951EE}"/>
              </a:ext>
            </a:extLst>
          </p:cNvPr>
          <p:cNvSpPr txBox="1"/>
          <p:nvPr/>
        </p:nvSpPr>
        <p:spPr>
          <a:xfrm>
            <a:off x="600364" y="1847273"/>
            <a:ext cx="95319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記憶體配置函式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malloc)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應該支援下列三種模式：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永久等待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(Blocking forever)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：任務會無限期等待記憶體可用。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有時限的等待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(Timeout blocking)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：任務等超過一個時間後仍未取得記憶體，則返回錯誤。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完全非阻塞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(Non-blocking)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：若立即無可用記憶體，直接返回錯誤。</a:t>
            </a:r>
          </a:p>
        </p:txBody>
      </p:sp>
    </p:spTree>
    <p:extLst>
      <p:ext uri="{BB962C8B-B14F-4D97-AF65-F5344CB8AC3E}">
        <p14:creationId xmlns:p14="http://schemas.microsoft.com/office/powerpoint/2010/main" val="902427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596</Words>
  <Application>Microsoft Office PowerPoint</Application>
  <PresentationFormat>寬螢幕</PresentationFormat>
  <Paragraphs>136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標楷體</vt:lpstr>
      <vt:lpstr>Aptos</vt:lpstr>
      <vt:lpstr>Aptos Display</vt:lpstr>
      <vt:lpstr>Arial</vt:lpstr>
      <vt:lpstr>Times New Roman</vt:lpstr>
      <vt:lpstr>Wingdings</vt:lpstr>
      <vt:lpstr>Office 佈景主題</vt:lpstr>
      <vt:lpstr>嵌入式作業系統 ICP4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王睿讚</dc:creator>
  <cp:lastModifiedBy>王睿讚</cp:lastModifiedBy>
  <cp:revision>1</cp:revision>
  <dcterms:created xsi:type="dcterms:W3CDTF">2025-04-24T08:52:16Z</dcterms:created>
  <dcterms:modified xsi:type="dcterms:W3CDTF">2025-04-25T02:53:46Z</dcterms:modified>
</cp:coreProperties>
</file>