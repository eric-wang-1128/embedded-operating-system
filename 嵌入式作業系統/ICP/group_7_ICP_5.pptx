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58" r:id="rId23"/>
    <p:sldId id="259" r:id="rId24"/>
    <p:sldId id="260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35F47-9A4C-4A18-859F-382483901F5A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6C61F-F172-4CFC-947D-D02BEAF4C7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995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F46F-43C9-4365-A39A-FF7C08AF95B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120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1F72DC-ABD1-8D69-D60F-F9F358F99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4A716C-F9AD-77E8-6175-CF3B4D25C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5759FD-6311-A720-ED74-B1750BFE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9F352F-0B72-3366-06CA-20934E2F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0D3DEC-590A-EE7B-D589-D43DFBF8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74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279B3-1B41-99B8-86F8-CD0B5172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6CA5BA-B18C-7F5A-D687-9B2DCE95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AB0E42-8B69-6335-31A2-D1D013D5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B16AAB-2106-3DFE-6733-843AA8F6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AAD128-8949-B5B0-B7D8-AA3FCA96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01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8975AB-AE2E-D75C-3038-5C59862D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4F0E7-EC2D-402B-B0D3-55DB63CF0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9745F9-00E4-2A7D-4FC5-87850C10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CDF7B5-1B77-458C-A1EC-F839AE14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D1E37D-B7FD-81D8-C4C9-397F16C5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948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E623F7-92AC-DDD1-2A69-3C8C3932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D4660C-23AC-A049-CAF9-4643A7B11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B3C394-D02F-365C-3EFD-738924704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CB4EA1-9F4E-284F-A89C-C7482C465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5523D5-7E96-57FD-B09F-8D77E409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D0C7E4-3D21-5015-2A51-B9B2BDCD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563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61487B-09C6-4AD9-30A0-36ED91662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67B965-FE7E-BAA7-F4D5-7FE248073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7E9F1E-2F58-E981-024C-8AC0F3EA7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B4A852D-5922-FFED-AC37-5FC03F790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88842AE-D333-59C2-6EB7-8A2739C6C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9C8A584-C214-FB1B-9C30-DEABA4F6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3B1CD52-9C16-2211-5DB6-F57B46A1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AE6E57B-7197-3E10-873E-CEE4DA12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85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59332-FDE4-5E6E-2F7F-1AE30D43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D3D2D59-AA44-FF3B-22B7-09E51EAB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7BF4FC-8FE8-BAC7-A4A2-FDEDCAF6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02D3B6-B8E4-1AAA-921C-C278CC39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2348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2984E44-F734-EFB9-4106-8855D05B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3F364A-FA95-4DC9-075E-62AD89F4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F6E9AD-A8C7-133F-BC95-A04D331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77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9D7F7-1F2B-31AF-C38C-C8284CD35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D89483-FFAC-645D-50E6-B91FFDAE0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621E888-D97F-185B-A914-E0AFC2662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F5FB89-34C7-E372-F48B-13FA1BD1F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594EDC6-87D0-383B-D49B-7AAAC02F7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846265-8BCC-01F5-8D00-3974F3D0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974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A755C9-F0D3-64D9-7189-E2B640A6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81DE3DC-4858-610F-D240-9D06309B3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452460-101A-8F72-4502-FE12CD516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BFCD0D-CB76-D8E1-A08D-B9B3F0EF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19AB57-7E8C-8932-5E06-C7C8C702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24992C-742E-1498-D982-D14770F1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19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06BE4-FF17-3634-4B1A-F49D6D75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DE78CA-0E40-368E-F3DE-6912092B2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77F4F5-160C-D10A-8A4E-7A2D4DEC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31D510-BB84-37B4-D3E8-1C5F8265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CB6791-3719-A144-D179-0E04C58B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16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763080-A7D0-C8F4-28E2-762C473BD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D06ECBD-82A8-D603-8FA1-A097B730D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8EDF07-25A9-9C8C-660A-45904AA7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3059E9-E4B0-BC02-C057-7C38A564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B04A18-7428-22C2-2E87-DB31C744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871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34235F4-57AF-87C1-AD58-C3B84E73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50644C-B054-293A-5F5D-FADA26A3F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EEB42-9175-1D20-81CB-F96B81C74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9B120-A6A5-4124-8509-E82568DC6F09}" type="datetimeFigureOut">
              <a:rPr lang="zh-TW" altLang="en-US" smtClean="0"/>
              <a:t>2025/5/8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BFBC5E-6395-2BF6-D2D1-D5D855150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6EA5D1-BFDD-5BB4-95F1-2CDCAE214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64C57-CC55-404C-AA22-91F2C01BE05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94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A14C3-665F-E9AA-DD36-C0F38AFF76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嵌入式作業系統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ICP5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12BCC4F-F251-A14B-7986-6B2E46603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22537"/>
          </a:xfrm>
        </p:spPr>
        <p:txBody>
          <a:bodyPr>
            <a:normAutofit/>
          </a:bodyPr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組員：王睿讚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吳冠霆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l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			   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潘柏翰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575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86A6EA1B-E1A4-509C-1FB5-315F59E2EC69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42A1D9-84BA-E332-A752-86934E5418C2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CF3C30D-21D8-5AF6-76E6-E38ECAE6D65B}"/>
              </a:ext>
            </a:extLst>
          </p:cNvPr>
          <p:cNvSpPr txBox="1"/>
          <p:nvPr/>
        </p:nvSpPr>
        <p:spPr>
          <a:xfrm>
            <a:off x="646545" y="1921164"/>
            <a:ext cx="88576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是一種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 object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允許一個或多個執行緒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(thread)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來取得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(acquire)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和釋放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(release)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用於同步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(synchronization)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或互斥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(mutual exclusion)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目的是為了確保某些操作能正常完成，或者正確的管理資源的存取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7906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0D71195-DE68-1A8B-5E11-875804FE402E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4AE96D57-6869-531D-E473-1D97E1CFFD7E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459C60-E73F-BFD8-CEB4-5FF09FEF3757}"/>
              </a:ext>
            </a:extLst>
          </p:cNvPr>
          <p:cNvSpPr txBox="1"/>
          <p:nvPr/>
        </p:nvSpPr>
        <p:spPr>
          <a:xfrm>
            <a:off x="508001" y="1228436"/>
            <a:ext cx="70473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當建立一個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，作業系統會分配給他：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 Control Block (SCB)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：信號量控制區塊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唯一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：讓系統能識別這個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數值：可以是二進位或計數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等待序列：當資源暫時無法提供時，等待的任務會排進這個列表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1EC3CBA-564F-5B38-D138-87532CA17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774022"/>
              </p:ext>
            </p:extLst>
          </p:nvPr>
        </p:nvGraphicFramePr>
        <p:xfrm>
          <a:off x="2041239" y="3981796"/>
          <a:ext cx="1542470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2470">
                  <a:extLst>
                    <a:ext uri="{9D8B030D-6E8A-4147-A177-3AD203B41FA5}">
                      <a16:colId xmlns:a16="http://schemas.microsoft.com/office/drawing/2014/main" val="1600030764"/>
                    </a:ext>
                  </a:extLst>
                </a:gridCol>
              </a:tblGrid>
              <a:tr h="12838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SCB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284255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99257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84969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7615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C7AAB88-9764-594B-4349-F683F138A59E}"/>
              </a:ext>
            </a:extLst>
          </p:cNvPr>
          <p:cNvSpPr/>
          <p:nvPr/>
        </p:nvSpPr>
        <p:spPr>
          <a:xfrm>
            <a:off x="2022764" y="5929745"/>
            <a:ext cx="1597891" cy="7019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155F207-686A-5FB2-14E4-3FAEB733B2CF}"/>
              </a:ext>
            </a:extLst>
          </p:cNvPr>
          <p:cNvSpPr txBox="1"/>
          <p:nvPr/>
        </p:nvSpPr>
        <p:spPr>
          <a:xfrm>
            <a:off x="2022764" y="6096061"/>
            <a:ext cx="159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value</a:t>
            </a:r>
            <a:endParaRPr lang="zh-TW" altLang="en-US" dirty="0"/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2AD873D2-67C2-D6E6-16CC-E52D5EA4E126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209442" y="4047867"/>
            <a:ext cx="166316" cy="296025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F1A7985B-4994-44F9-6022-716ECFFF29C5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4217601" y="4374620"/>
            <a:ext cx="159235" cy="295101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85315162-21B2-0B1F-C60D-13607334E80D}"/>
              </a:ext>
            </a:extLst>
          </p:cNvPr>
          <p:cNvCxnSpPr>
            <a:cxnSpLocks/>
          </p:cNvCxnSpPr>
          <p:nvPr/>
        </p:nvCxnSpPr>
        <p:spPr>
          <a:xfrm>
            <a:off x="6668655" y="5694279"/>
            <a:ext cx="12469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3277EE5-5251-8907-6412-73D0FF470872}"/>
              </a:ext>
            </a:extLst>
          </p:cNvPr>
          <p:cNvCxnSpPr/>
          <p:nvPr/>
        </p:nvCxnSpPr>
        <p:spPr>
          <a:xfrm>
            <a:off x="8081818" y="5329382"/>
            <a:ext cx="35282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831F79B-BA13-7964-661C-D1386A82E24E}"/>
              </a:ext>
            </a:extLst>
          </p:cNvPr>
          <p:cNvCxnSpPr/>
          <p:nvPr/>
        </p:nvCxnSpPr>
        <p:spPr>
          <a:xfrm>
            <a:off x="8081818" y="6008255"/>
            <a:ext cx="35282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181D4272-17A2-AB8B-FB49-A52D60EA903C}"/>
              </a:ext>
            </a:extLst>
          </p:cNvPr>
          <p:cNvSpPr/>
          <p:nvPr/>
        </p:nvSpPr>
        <p:spPr>
          <a:xfrm>
            <a:off x="8081818" y="5444835"/>
            <a:ext cx="798946" cy="484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Task1</a:t>
            </a:r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C02CA3-1DC6-E10E-303D-49EC5320E0D6}"/>
              </a:ext>
            </a:extLst>
          </p:cNvPr>
          <p:cNvSpPr/>
          <p:nvPr/>
        </p:nvSpPr>
        <p:spPr>
          <a:xfrm>
            <a:off x="10390908" y="5461121"/>
            <a:ext cx="798946" cy="484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Task3</a:t>
            </a:r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3E107EA-2579-7EC3-1FC9-80B702ED9AB2}"/>
              </a:ext>
            </a:extLst>
          </p:cNvPr>
          <p:cNvSpPr/>
          <p:nvPr/>
        </p:nvSpPr>
        <p:spPr>
          <a:xfrm>
            <a:off x="9236363" y="5451824"/>
            <a:ext cx="798946" cy="484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Task2</a:t>
            </a:r>
            <a:endParaRPr lang="zh-TW" altLang="en-US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588DBDC1-2E41-95FD-7CFE-515F19C318D4}"/>
              </a:ext>
            </a:extLst>
          </p:cNvPr>
          <p:cNvGrpSpPr/>
          <p:nvPr/>
        </p:nvGrpSpPr>
        <p:grpSpPr>
          <a:xfrm>
            <a:off x="5814289" y="5246259"/>
            <a:ext cx="794328" cy="766609"/>
            <a:chOff x="5772727" y="5254384"/>
            <a:chExt cx="794328" cy="766609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F4941BB4-FB36-FB0F-A13C-452D5C83FA14}"/>
                </a:ext>
              </a:extLst>
            </p:cNvPr>
            <p:cNvSpPr/>
            <p:nvPr/>
          </p:nvSpPr>
          <p:spPr>
            <a:xfrm>
              <a:off x="5772727" y="5254384"/>
              <a:ext cx="794328" cy="76660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5AFE3444-7ED5-DF10-7B16-E203593C6530}"/>
                </a:ext>
              </a:extLst>
            </p:cNvPr>
            <p:cNvCxnSpPr>
              <a:cxnSpLocks/>
            </p:cNvCxnSpPr>
            <p:nvPr/>
          </p:nvCxnSpPr>
          <p:spPr>
            <a:xfrm>
              <a:off x="6059055" y="5444835"/>
              <a:ext cx="0" cy="4849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399E4988-9D64-248C-E3E8-D385E6A08E2A}"/>
                </a:ext>
              </a:extLst>
            </p:cNvPr>
            <p:cNvCxnSpPr>
              <a:cxnSpLocks/>
            </p:cNvCxnSpPr>
            <p:nvPr/>
          </p:nvCxnSpPr>
          <p:spPr>
            <a:xfrm>
              <a:off x="6059055" y="5428762"/>
              <a:ext cx="267855" cy="1593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1BD6575F-04EE-E934-E4F6-A10DC32FD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9055" y="5588090"/>
              <a:ext cx="267855" cy="991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BDBB494-0B82-EE9A-95AC-470B5D79E594}"/>
              </a:ext>
            </a:extLst>
          </p:cNvPr>
          <p:cNvSpPr txBox="1"/>
          <p:nvPr/>
        </p:nvSpPr>
        <p:spPr>
          <a:xfrm>
            <a:off x="5643417" y="5994517"/>
            <a:ext cx="1450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semaphore</a:t>
            </a:r>
            <a:endParaRPr lang="zh-TW" altLang="en-US" dirty="0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91B55B77-5826-332A-DC15-629352C9DDC3}"/>
              </a:ext>
            </a:extLst>
          </p:cNvPr>
          <p:cNvCxnSpPr>
            <a:cxnSpLocks/>
          </p:cNvCxnSpPr>
          <p:nvPr/>
        </p:nvCxnSpPr>
        <p:spPr>
          <a:xfrm flipH="1" flipV="1">
            <a:off x="3687618" y="6465393"/>
            <a:ext cx="1226127" cy="166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4F10AE3-752E-395D-3C34-55A6B79CA43E}"/>
              </a:ext>
            </a:extLst>
          </p:cNvPr>
          <p:cNvSpPr txBox="1"/>
          <p:nvPr/>
        </p:nvSpPr>
        <p:spPr>
          <a:xfrm>
            <a:off x="4913745" y="6483802"/>
            <a:ext cx="4221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標示當前有多少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 token</a:t>
            </a:r>
            <a:endParaRPr lang="zh-TW" altLang="en-US" sz="1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AF8313F-2B50-AAD8-0127-A8C164EB1F03}"/>
              </a:ext>
            </a:extLst>
          </p:cNvPr>
          <p:cNvSpPr txBox="1"/>
          <p:nvPr/>
        </p:nvSpPr>
        <p:spPr>
          <a:xfrm>
            <a:off x="8227290" y="4844719"/>
            <a:ext cx="28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Task-Waiting list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7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1113EFA6-F6EC-F0E3-C879-42A8ABB71C5F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3BABBA-A7AB-D06F-3AB5-957FA6FB88B9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A38BE46-E39A-26F7-1657-5FCCEAC938E2}"/>
              </a:ext>
            </a:extLst>
          </p:cNvPr>
          <p:cNvSpPr txBox="1"/>
          <p:nvPr/>
        </p:nvSpPr>
        <p:spPr>
          <a:xfrm>
            <a:off x="618836" y="1496291"/>
            <a:ext cx="84605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Binary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值只能是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通常用於互斥鎖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(mutex)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Counting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值可以是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以上的整數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用來表示多個資源可供多個執行緒存取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Mutex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一種特別設計用來確保一次只有一個執行緒能存取資源的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類似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binary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，但通常帶有擁有者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(owner)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等附加資訊</a:t>
            </a:r>
          </a:p>
        </p:txBody>
      </p:sp>
    </p:spTree>
    <p:extLst>
      <p:ext uri="{BB962C8B-B14F-4D97-AF65-F5344CB8AC3E}">
        <p14:creationId xmlns:p14="http://schemas.microsoft.com/office/powerpoint/2010/main" val="60863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8F10889-8BA8-4275-3536-F39679E69516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C4ADD7B5-7F9C-CEAF-EC7F-C7BFF45A990E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20C9E9DD-5928-ABED-62AD-8900AE43F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671" y="1714650"/>
            <a:ext cx="9536657" cy="2988248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CF749B8B-661F-B8E4-C98A-6019E526C0F7}"/>
              </a:ext>
            </a:extLst>
          </p:cNvPr>
          <p:cNvSpPr txBox="1"/>
          <p:nvPr/>
        </p:nvSpPr>
        <p:spPr>
          <a:xfrm>
            <a:off x="1320800" y="5144655"/>
            <a:ext cx="961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Binary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為全域資源，所有需要他的任務共有一個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且任何任務都可以釋放這個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，即使當初不是他取得的。</a:t>
            </a:r>
          </a:p>
        </p:txBody>
      </p:sp>
    </p:spTree>
    <p:extLst>
      <p:ext uri="{BB962C8B-B14F-4D97-AF65-F5344CB8AC3E}">
        <p14:creationId xmlns:p14="http://schemas.microsoft.com/office/powerpoint/2010/main" val="70422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CF6FA86-DD95-3110-55E0-33E679D5DC77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125E2E-56D6-55B8-4CCF-EF6527657C75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8034CE-BFF7-3EBA-7104-55FE4A5C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28" y="1893192"/>
            <a:ext cx="8074842" cy="264186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C2E28D0-C191-EDE9-E268-1B9D48B7002F}"/>
              </a:ext>
            </a:extLst>
          </p:cNvPr>
          <p:cNvSpPr txBox="1"/>
          <p:nvPr/>
        </p:nvSpPr>
        <p:spPr>
          <a:xfrm>
            <a:off x="1288472" y="4775149"/>
            <a:ext cx="961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Counting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同樣為全域資源，但它可允許多個任務進入。</a:t>
            </a:r>
          </a:p>
        </p:txBody>
      </p:sp>
    </p:spTree>
    <p:extLst>
      <p:ext uri="{BB962C8B-B14F-4D97-AF65-F5344CB8AC3E}">
        <p14:creationId xmlns:p14="http://schemas.microsoft.com/office/powerpoint/2010/main" val="48249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41A0780-F45F-E1B5-189D-BDC163597DCB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 Semaphore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BC31ED6-B6C6-871D-095E-53A09D0A1728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65267763-BB83-AA9D-2553-F581B613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620" y="1307242"/>
            <a:ext cx="6626998" cy="266902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19F65CB-0CDD-7AF3-A776-B4EBBFC044BE}"/>
              </a:ext>
            </a:extLst>
          </p:cNvPr>
          <p:cNvSpPr txBox="1"/>
          <p:nvPr/>
        </p:nvSpPr>
        <p:spPr>
          <a:xfrm>
            <a:off x="2225963" y="4193309"/>
            <a:ext cx="7481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Owner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：只有取得鎖的任務可以釋放鎖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Recursive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Locking(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可重複上鎖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：允許同一個任務重複取得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，不會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Deadlock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Prior Inversion Avoidance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：如果高優先權任務被低優先權任務持有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Mutex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而阻塞，系統可以臨時提高低優先權任務的優先權</a:t>
            </a:r>
          </a:p>
        </p:txBody>
      </p:sp>
    </p:spTree>
    <p:extLst>
      <p:ext uri="{BB962C8B-B14F-4D97-AF65-F5344CB8AC3E}">
        <p14:creationId xmlns:p14="http://schemas.microsoft.com/office/powerpoint/2010/main" val="171834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2DD9C941-15DB-4105-522D-8F02FC4F395E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7F2972-E6BA-720B-CFDE-E2D1915F8ED6}"/>
              </a:ext>
            </a:extLst>
          </p:cNvPr>
          <p:cNvSpPr txBox="1"/>
          <p:nvPr/>
        </p:nvSpPr>
        <p:spPr>
          <a:xfrm>
            <a:off x="508000" y="298878"/>
            <a:ext cx="7813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Waiting-and-signal synchronization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B68A7C-A424-3A12-ADC9-75FCCFAE3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50" y="3814033"/>
            <a:ext cx="7963118" cy="155047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4417DB7-D91F-D645-EB48-2F7F86EA8F63}"/>
              </a:ext>
            </a:extLst>
          </p:cNvPr>
          <p:cNvSpPr txBox="1"/>
          <p:nvPr/>
        </p:nvSpPr>
        <p:spPr>
          <a:xfrm>
            <a:off x="646545" y="1533236"/>
            <a:ext cx="6271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兩個任務之間同步，但不交換資料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Binary Semaphore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來傳遞執行控制權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一個任務負責等待，一個負責發送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2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67C5C643-676F-C905-7025-62221A3A23EA}"/>
              </a:ext>
            </a:extLst>
          </p:cNvPr>
          <p:cNvCxnSpPr>
            <a:cxnSpLocks/>
          </p:cNvCxnSpPr>
          <p:nvPr/>
        </p:nvCxnSpPr>
        <p:spPr>
          <a:xfrm>
            <a:off x="508001" y="1006763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2E9A04B-62AE-D653-7BEE-4708B1ADFB62}"/>
              </a:ext>
            </a:extLst>
          </p:cNvPr>
          <p:cNvSpPr txBox="1"/>
          <p:nvPr/>
        </p:nvSpPr>
        <p:spPr>
          <a:xfrm>
            <a:off x="508000" y="298878"/>
            <a:ext cx="9227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Shared-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Resouce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-Access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2A8BCAA-EF22-C52F-9630-A263FBC3CD07}"/>
              </a:ext>
            </a:extLst>
          </p:cNvPr>
          <p:cNvSpPr txBox="1"/>
          <p:nvPr/>
        </p:nvSpPr>
        <p:spPr>
          <a:xfrm>
            <a:off x="729673" y="1782617"/>
            <a:ext cx="7241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保護一個共享資源，讓同一時間只能有一個任務能讀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寫這個資源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資源包含：記憶體位置、資料結構、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I/O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裝置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239147-134D-B2D1-2E84-FEADC3B71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019" y="2961447"/>
            <a:ext cx="6237903" cy="23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72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160142A-3336-400C-84D8-71FB052B5DAF}"/>
              </a:ext>
            </a:extLst>
          </p:cNvPr>
          <p:cNvCxnSpPr>
            <a:cxnSpLocks/>
          </p:cNvCxnSpPr>
          <p:nvPr/>
        </p:nvCxnSpPr>
        <p:spPr>
          <a:xfrm>
            <a:off x="508001" y="1006763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AE9C2577-B898-D136-FA3D-C77363831450}"/>
              </a:ext>
            </a:extLst>
          </p:cNvPr>
          <p:cNvSpPr txBox="1"/>
          <p:nvPr/>
        </p:nvSpPr>
        <p:spPr>
          <a:xfrm>
            <a:off x="508000" y="298878"/>
            <a:ext cx="9227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Message Queue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9ED2BBA-D091-C2E2-82AC-2BE19EA04EA2}"/>
              </a:ext>
            </a:extLst>
          </p:cNvPr>
          <p:cNvSpPr txBox="1"/>
          <p:nvPr/>
        </p:nvSpPr>
        <p:spPr>
          <a:xfrm>
            <a:off x="646545" y="1662545"/>
            <a:ext cx="97997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Message Queue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是作業系統中常見的同步與通訊機制，建立時會有以下設定：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控制區塊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(QCB)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：內部資料結構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唯一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：供系統辨識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記憶體緩衝：序列用來存放每則訊息的空間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序列長度：允許存放多少尚未被取走的訊息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最大長度：每一則訊息大小的上限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8732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7D241DCD-1880-2D17-E6C0-A801B439E120}"/>
              </a:ext>
            </a:extLst>
          </p:cNvPr>
          <p:cNvCxnSpPr>
            <a:cxnSpLocks/>
          </p:cNvCxnSpPr>
          <p:nvPr/>
        </p:nvCxnSpPr>
        <p:spPr>
          <a:xfrm>
            <a:off x="508001" y="1006763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C404B3A6-30AC-14FA-D2D6-92F099B17E07}"/>
              </a:ext>
            </a:extLst>
          </p:cNvPr>
          <p:cNvSpPr txBox="1"/>
          <p:nvPr/>
        </p:nvSpPr>
        <p:spPr>
          <a:xfrm>
            <a:off x="508000" y="298878"/>
            <a:ext cx="9227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Queue States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A3164C-0172-CE9D-513E-0AC435D096C9}"/>
              </a:ext>
            </a:extLst>
          </p:cNvPr>
          <p:cNvSpPr txBox="1"/>
          <p:nvPr/>
        </p:nvSpPr>
        <p:spPr>
          <a:xfrm>
            <a:off x="674255" y="1588655"/>
            <a:ext cx="85713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Empty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：序列中沒有任何訊息，如果此時有任務呼叫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send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，訊息不會進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Buffer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而是直接給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Receive list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的任務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Not Empty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：序列中已有一則以上的訊息，且沒有任務在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Receive list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等待，此時會將訊息加到序列尾端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：序列已儲存最大訊息數，若有新訊息進入會回傳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Error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blocked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D9ABAEF-F8AB-AB35-4C5C-3CF4A4D2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245" y="3934553"/>
            <a:ext cx="6771510" cy="242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363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AAD6A1C-B378-78F1-7B79-C03831D0C83C}"/>
              </a:ext>
            </a:extLst>
          </p:cNvPr>
          <p:cNvCxnSpPr>
            <a:cxnSpLocks/>
          </p:cNvCxnSpPr>
          <p:nvPr/>
        </p:nvCxnSpPr>
        <p:spPr>
          <a:xfrm>
            <a:off x="508001" y="1006763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7E78F3-C8BE-EB4B-4770-C4C08B84F4B3}"/>
              </a:ext>
            </a:extLst>
          </p:cNvPr>
          <p:cNvSpPr txBox="1"/>
          <p:nvPr/>
        </p:nvSpPr>
        <p:spPr>
          <a:xfrm>
            <a:off x="508000" y="298878"/>
            <a:ext cx="9227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Use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FC1B1F1-57D0-DC15-4324-1896F52DD53C}"/>
              </a:ext>
            </a:extLst>
          </p:cNvPr>
          <p:cNvSpPr txBox="1"/>
          <p:nvPr/>
        </p:nvSpPr>
        <p:spPr>
          <a:xfrm>
            <a:off x="628073" y="1671782"/>
            <a:ext cx="101138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tSendingTask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send()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，作業系統會把訊息從發送任務記憶體區塊複製到訊息序列緩衝區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訊息序列維持自己的一塊記憶體池，用來儲存尚未被取出的訊息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tReceivingTask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receive()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且有可取的訊息時，系統會把訊息從緩衝區複製到接收任務記憶體區域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684CCF-2494-4DE5-2528-2C4581478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109" y="3703107"/>
            <a:ext cx="9116697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49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14ED3571-53C0-7FF9-5388-D34F4C2457BC}"/>
              </a:ext>
            </a:extLst>
          </p:cNvPr>
          <p:cNvCxnSpPr>
            <a:cxnSpLocks/>
          </p:cNvCxnSpPr>
          <p:nvPr/>
        </p:nvCxnSpPr>
        <p:spPr>
          <a:xfrm>
            <a:off x="508001" y="1006763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351004-CD75-1324-708C-640F6A5D3E1F}"/>
              </a:ext>
            </a:extLst>
          </p:cNvPr>
          <p:cNvSpPr txBox="1"/>
          <p:nvPr/>
        </p:nvSpPr>
        <p:spPr>
          <a:xfrm>
            <a:off x="508000" y="298878"/>
            <a:ext cx="9227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Queue Storage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1412EC-B9BB-6615-F953-F4CDCBA3A03C}"/>
              </a:ext>
            </a:extLst>
          </p:cNvPr>
          <p:cNvSpPr txBox="1"/>
          <p:nvPr/>
        </p:nvSpPr>
        <p:spPr>
          <a:xfrm>
            <a:off x="618836" y="1699491"/>
            <a:ext cx="98459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System Pool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：把所有序列的訊息緩衝都指向同一塊大區域，動態分配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優點：節省記憶體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缺點：單一序列若塞了很大的訊息，可能把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Pool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Private Buffer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：每個序列建立時，究靜態畫一塊足以容納最大容量*訊息長度的記憶體空間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優點：各序列互不影響，不會因為其他序列佔用而沒空間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缺點：如果有許多序列，且平常用不多，就會浪費記憶體空間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27628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30D5BDF-E246-D115-B2EA-C0F62BDC1EC9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59E8D7B-E680-C562-BCEA-04AB57BDF501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5B133F9-B3F7-52BE-C22A-69A4C1B6455B}"/>
              </a:ext>
            </a:extLst>
          </p:cNvPr>
          <p:cNvSpPr txBox="1"/>
          <p:nvPr/>
        </p:nvSpPr>
        <p:spPr>
          <a:xfrm>
            <a:off x="6604001" y="1274815"/>
            <a:ext cx="52831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資料以無結構的</a:t>
            </a:r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byte stream</a:t>
            </a: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形式傳遞，不保留訊息邊界。</a:t>
            </a:r>
            <a:endParaRPr lang="en-US" altLang="zh-TW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遵循 </a:t>
            </a:r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FIFO</a:t>
            </a: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First-In-First-Out</a:t>
            </a: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）原則，確保寫入與讀取順序一致。</a:t>
            </a:r>
            <a:endParaRPr lang="en-US" altLang="zh-TW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適用於需要單向資料流的情境，例如父子行程間通訊。</a:t>
            </a:r>
            <a:endParaRPr lang="en-US" altLang="zh-TW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可透過 </a:t>
            </a:r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select() </a:t>
            </a: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系統呼叫進行事件監控，有效整合至非同步 </a:t>
            </a:r>
            <a:r>
              <a:rPr lang="en-US" altLang="zh-TW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I/O </a:t>
            </a:r>
            <a:r>
              <a:rPr lang="zh-TW" altLang="en-US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處理流程中。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AEC56D-D5DF-686C-BF1D-C0087FD0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1" y="1081911"/>
            <a:ext cx="5840402" cy="181368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A40A74-46FD-43A8-5912-69B715B76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1" y="3429000"/>
            <a:ext cx="5464174" cy="1920999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3ABFA31A-CD70-7825-0564-291F5122ABF2}"/>
              </a:ext>
            </a:extLst>
          </p:cNvPr>
          <p:cNvSpPr txBox="1"/>
          <p:nvPr/>
        </p:nvSpPr>
        <p:spPr>
          <a:xfrm>
            <a:off x="5972175" y="371867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為單向通訊通道，使用兩個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descriptors(p[2])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p[0]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：讀取端（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p[1]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：寫入端（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可搭配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select()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系統呼叫，透過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descriptors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告知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是否可讀（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 for read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是否可寫（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 for write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阻塞行為（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Blocking Behavior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已滿 時，寫入端會被阻塞，直到有空間可寫。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為空 時，讀取端會被阻塞，直到有資料可讀。</a:t>
            </a:r>
          </a:p>
        </p:txBody>
      </p:sp>
    </p:spTree>
    <p:extLst>
      <p:ext uri="{BB962C8B-B14F-4D97-AF65-F5344CB8AC3E}">
        <p14:creationId xmlns:p14="http://schemas.microsoft.com/office/powerpoint/2010/main" val="1585318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4F266F74-3E90-1E81-071C-13907071ED99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380CCF-AD43-BD9F-F4C1-918E3A6BB05F}"/>
              </a:ext>
            </a:extLst>
          </p:cNvPr>
          <p:cNvSpPr txBox="1"/>
          <p:nvPr/>
        </p:nvSpPr>
        <p:spPr>
          <a:xfrm>
            <a:off x="508001" y="298878"/>
            <a:ext cx="6539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 Control Block(PCB)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B90CB11-F7A7-6125-0C9A-4AC5F6D3E014}"/>
              </a:ext>
            </a:extLst>
          </p:cNvPr>
          <p:cNvSpPr txBox="1"/>
          <p:nvPr/>
        </p:nvSpPr>
        <p:spPr>
          <a:xfrm>
            <a:off x="838200" y="3981443"/>
            <a:ext cx="9735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PCB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Buffer: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作業系統於建立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時配置，大小固定，無法於執行期間動態變更。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Current Data Count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：目前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buffer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中可供讀取的資料數量（位元組數）。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 Position Indicator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：下一筆寫入資料的位置（由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Writer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使用）。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Output Position Indicator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：下一筆讀取資料的位置（由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Reader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使用）。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 Waiting Lists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Writer Waiting List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：當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滿時，寫入任務會被加入該佇列，直到可寫入為止。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Reader Waiting List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：當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Pipe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為空時，讀取任務會被加入該佇列，直到有資料可讀。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C31B8F5-21A7-9D27-0475-22787A88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47774"/>
            <a:ext cx="8639744" cy="273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51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D652BFBB-95EA-2DDA-FB28-AB848678065E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94F3DC-36DD-D7C5-E785-09ABCC82AF50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6586144-EDDD-E132-39B1-AD318D82E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1" y="1190777"/>
            <a:ext cx="5524920" cy="2476348"/>
          </a:xfrm>
          <a:prstGeom prst="rect">
            <a:avLst/>
          </a:prstGeom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2A85A4D7-4E43-153F-7E25-CECF4669B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921" y="1483422"/>
            <a:ext cx="5997154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 可協助告知 Process 是否可執行 I/O 操作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例如：目前是否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 to Read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或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Ready to Write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支援 Task 在多個 Pipe 上等待特定條件發生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可讓 Task 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阻塞等待（blocking wait）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，直到其中某一條件成立。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監控能力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當需同時監控多個 Pipe，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select() 可：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回傳任一 Pipe 是否可供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回傳任一 Pipe 是否可供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7FC80F2-C330-0EF5-F3CF-DD3AC5699F2E}"/>
              </a:ext>
            </a:extLst>
          </p:cNvPr>
          <p:cNvSpPr txBox="1"/>
          <p:nvPr/>
        </p:nvSpPr>
        <p:spPr>
          <a:xfrm>
            <a:off x="508001" y="400401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應用情境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某 Task 同時需：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從兩個 Pipe 讀取資料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寫入第三個 Pipe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可使用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select() 來監控：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哪些 Pipe 的資料可讀（Readable）</a:t>
            </a:r>
          </a:p>
          <a:p>
            <a:pPr marL="1200150" marR="0" lvl="2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哪些 Pipe 可進行寫入（Writable）</a:t>
            </a:r>
          </a:p>
        </p:txBody>
      </p:sp>
    </p:spTree>
    <p:extLst>
      <p:ext uri="{BB962C8B-B14F-4D97-AF65-F5344CB8AC3E}">
        <p14:creationId xmlns:p14="http://schemas.microsoft.com/office/powerpoint/2010/main" val="1169273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EBD05D7-9BCA-E155-F628-1FF40391CFA4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FD28F173-3048-558C-A890-176DB4FEEAB8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Use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68D4CF-73A8-2FDF-47DF-192FF49F753C}"/>
              </a:ext>
            </a:extLst>
          </p:cNvPr>
          <p:cNvSpPr txBox="1"/>
          <p:nvPr/>
        </p:nvSpPr>
        <p:spPr>
          <a:xfrm>
            <a:off x="1337903" y="3523444"/>
            <a:ext cx="398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task-to-task</a:t>
            </a:r>
            <a:r>
              <a:rPr lang="zh-TW" altLang="en-US" dirty="0"/>
              <a:t>或是 </a:t>
            </a:r>
            <a:r>
              <a:rPr lang="en-US" altLang="zh-TW" dirty="0"/>
              <a:t>ISR-to-task</a:t>
            </a:r>
            <a:r>
              <a:rPr lang="zh-TW" altLang="en-US" dirty="0"/>
              <a:t>資料傳輸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67FEC53-DFC6-5B5B-0EB8-5EA544D2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3" y="1285875"/>
            <a:ext cx="5576888" cy="214312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3EB1015-B57A-E7B1-3402-D1892B124CD5}"/>
              </a:ext>
            </a:extLst>
          </p:cNvPr>
          <p:cNvSpPr txBox="1"/>
          <p:nvPr/>
        </p:nvSpPr>
        <p:spPr>
          <a:xfrm>
            <a:off x="5962650" y="1529462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1：建立第一個 Pipe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資料由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 A → Task B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傳輸。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 2：建立第二個 Pipe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資料由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 B → Task A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傳輸，形成雙向通訊通道。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 A 與 Task B 均使用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select() 監控 Pipe 狀態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select() 可檢查：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資料是否可寫入（write-ready）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資料是否可讀取（read-ready）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非同步等待特性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當等待的 Pipe 尚未 ready 時，Task A/B 可先執行其他邏輯（避免 busy-wait）。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一旦 pipe 就緒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，select() 會立即通知相應 Task 處理 I/O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3915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2086F-BD8F-4872-1BE8-01678965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FF7722A3-F7F0-0B1D-8F45-2AA2106FD5E1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9EFF3B23-799A-0CB9-65CC-9B00F94E63A6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 vs Message Queue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1C037BE-5EF9-3B8E-E307-58E62B425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96119"/>
              </p:ext>
            </p:extLst>
          </p:nvPr>
        </p:nvGraphicFramePr>
        <p:xfrm>
          <a:off x="508001" y="1478439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187865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476159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015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Pipe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Message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415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結構化訊息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711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支援優先權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(priority)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892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支援 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select()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30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資料順序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僅 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FIFO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FIFO / Priority-based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40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147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8C863730-1322-7193-9C71-5714B8D165AC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A3324E-8547-B4EF-7C70-04BC81E3A0CD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Memory in Linux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F0A96F8-62C7-35A1-39C3-CF9AC8015E85}"/>
              </a:ext>
            </a:extLst>
          </p:cNvPr>
          <p:cNvSpPr txBox="1"/>
          <p:nvPr/>
        </p:nvSpPr>
        <p:spPr>
          <a:xfrm>
            <a:off x="609600" y="1865745"/>
            <a:ext cx="114871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允許多個 Process 共享同一塊虛擬記憶體區域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，用於高速資料交換。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相較於其他 IPC 機制，</a:t>
            </a:r>
            <a:r>
              <a:rPr kumimoji="0" lang="zh-TW" altLang="zh-TW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共享記憶體的資料傳輸效率最高</a:t>
            </a: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，但實作與同步較為複雜。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一般流程如下：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一個 Process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建立或配置共享記憶體區段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各個需要使用的 Process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attach 該區段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，並將其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映射（mmap）到自身資料空間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 間直接讀寫該記憶體區域以進行資料交換。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1804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7B68D3E-97DD-4A78-6741-D7BB6940B612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BC042B-D0F0-3A15-FD50-1EF986AB3A1F}"/>
              </a:ext>
            </a:extLst>
          </p:cNvPr>
          <p:cNvSpPr txBox="1"/>
          <p:nvPr/>
        </p:nvSpPr>
        <p:spPr>
          <a:xfrm>
            <a:off x="508001" y="298878"/>
            <a:ext cx="7084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Communication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C41137-44C2-2752-6333-F0796F0A4454}"/>
              </a:ext>
            </a:extLst>
          </p:cNvPr>
          <p:cNvSpPr txBox="1"/>
          <p:nvPr/>
        </p:nvSpPr>
        <p:spPr>
          <a:xfrm>
            <a:off x="704850" y="1189762"/>
            <a:ext cx="11102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資訊傳遞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給其他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協調多執行緒活動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，特別是在嵌入式系統中實現正確的時序與資源共享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CB39EF8-DC31-A10E-A6B8-7DB56FF7E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88091"/>
              </p:ext>
            </p:extLst>
          </p:nvPr>
        </p:nvGraphicFramePr>
        <p:xfrm>
          <a:off x="704850" y="2427417"/>
          <a:ext cx="10782300" cy="1828918"/>
        </p:xfrm>
        <a:graphic>
          <a:graphicData uri="http://schemas.openxmlformats.org/drawingml/2006/table">
            <a:tbl>
              <a:tblPr/>
              <a:tblGrid>
                <a:gridCol w="3594100">
                  <a:extLst>
                    <a:ext uri="{9D8B030D-6E8A-4147-A177-3AD203B41FA5}">
                      <a16:colId xmlns:a16="http://schemas.microsoft.com/office/drawing/2014/main" val="1683745899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107984906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2940669023"/>
                    </a:ext>
                  </a:extLst>
                </a:gridCol>
              </a:tblGrid>
              <a:tr h="406426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特性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206047"/>
                  </a:ext>
                </a:extLst>
              </a:tr>
              <a:tr h="71124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Signal-Centric</a:t>
                      </a:r>
                      <a:endParaRPr 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傳送</a:t>
                      </a:r>
                      <a:r>
                        <a:rPr lang="zh-TW" altLang="en-US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事件訊號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以引發目標行為，不一定攜帶資料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(Data)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本體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著重在觸發行為，例如通知有事發生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437610"/>
                  </a:ext>
                </a:extLst>
              </a:tr>
              <a:tr h="71124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Data-Centric</a:t>
                      </a:r>
                      <a:endParaRPr 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資料本身包含欲傳遞的所有資訊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著重在傳遞實際內容，例如傳送一筆測量值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25195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B549ECB-7356-4657-CBD9-43A6D55F5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859807"/>
              </p:ext>
            </p:extLst>
          </p:nvPr>
        </p:nvGraphicFramePr>
        <p:xfrm>
          <a:off x="704849" y="4570659"/>
          <a:ext cx="10782300" cy="1896810"/>
        </p:xfrm>
        <a:graphic>
          <a:graphicData uri="http://schemas.openxmlformats.org/drawingml/2006/table">
            <a:tbl>
              <a:tblPr/>
              <a:tblGrid>
                <a:gridCol w="5391150">
                  <a:extLst>
                    <a:ext uri="{9D8B030D-6E8A-4147-A177-3AD203B41FA5}">
                      <a16:colId xmlns:a16="http://schemas.microsoft.com/office/drawing/2014/main" val="3260109884"/>
                    </a:ext>
                  </a:extLst>
                </a:gridCol>
                <a:gridCol w="5391150">
                  <a:extLst>
                    <a:ext uri="{9D8B030D-6E8A-4147-A177-3AD203B41FA5}">
                      <a16:colId xmlns:a16="http://schemas.microsoft.com/office/drawing/2014/main" val="2643105184"/>
                    </a:ext>
                  </a:extLst>
                </a:gridCol>
              </a:tblGrid>
              <a:tr h="37936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應用場景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通訊模式建議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54464"/>
                  </a:ext>
                </a:extLst>
              </a:tr>
              <a:tr h="37936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偵測事件是否發生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Signal-Centric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272462"/>
                  </a:ext>
                </a:extLst>
              </a:tr>
              <a:tr h="379362"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傳遞一筆 </a:t>
                      </a:r>
                      <a:r>
                        <a:rPr lang="en-US" altLang="zh-TW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sensor </a:t>
                      </a:r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Data-Centric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04889"/>
                  </a:ext>
                </a:extLst>
              </a:tr>
              <a:tr h="37936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啟動特定任務或切換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Signal-Centric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891997"/>
                  </a:ext>
                </a:extLst>
              </a:tr>
              <a:tr h="379362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多執行緒間交換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buffer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Data-Centric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167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427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DFD7-F1B8-16B9-CE4F-1BC66887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D233EE7D-37CE-5F0E-E1AA-10A30D07CF8F}"/>
              </a:ext>
            </a:extLst>
          </p:cNvPr>
          <p:cNvCxnSpPr>
            <a:cxnSpLocks/>
          </p:cNvCxnSpPr>
          <p:nvPr/>
        </p:nvCxnSpPr>
        <p:spPr>
          <a:xfrm>
            <a:off x="507997" y="822098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DAF36645-34B8-DB9E-61AD-BC3EEC7CC302}"/>
              </a:ext>
            </a:extLst>
          </p:cNvPr>
          <p:cNvSpPr txBox="1"/>
          <p:nvPr/>
        </p:nvSpPr>
        <p:spPr>
          <a:xfrm>
            <a:off x="508000" y="298878"/>
            <a:ext cx="11102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fontAlgn="ctr" latinLnBrk="0" hangingPunct="1">
              <a:buNone/>
            </a:pPr>
            <a:r>
              <a:rPr lang="en-US" altLang="zh-TW" sz="2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Loosely Coupled Communication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TW" sz="2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Tightly Coupled Communication</a:t>
            </a:r>
            <a:endParaRPr lang="zh-TW" altLang="zh-TW" sz="28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71F3097-E42C-427C-5A6B-C00738631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37149"/>
              </p:ext>
            </p:extLst>
          </p:nvPr>
        </p:nvGraphicFramePr>
        <p:xfrm>
          <a:off x="544947" y="1031237"/>
          <a:ext cx="11102106" cy="3749348"/>
        </p:xfrm>
        <a:graphic>
          <a:graphicData uri="http://schemas.openxmlformats.org/drawingml/2006/table">
            <a:tbl>
              <a:tblPr/>
              <a:tblGrid>
                <a:gridCol w="3700702">
                  <a:extLst>
                    <a:ext uri="{9D8B030D-6E8A-4147-A177-3AD203B41FA5}">
                      <a16:colId xmlns:a16="http://schemas.microsoft.com/office/drawing/2014/main" val="503380147"/>
                    </a:ext>
                  </a:extLst>
                </a:gridCol>
                <a:gridCol w="3700702">
                  <a:extLst>
                    <a:ext uri="{9D8B030D-6E8A-4147-A177-3AD203B41FA5}">
                      <a16:colId xmlns:a16="http://schemas.microsoft.com/office/drawing/2014/main" val="1332099324"/>
                    </a:ext>
                  </a:extLst>
                </a:gridCol>
                <a:gridCol w="3700702">
                  <a:extLst>
                    <a:ext uri="{9D8B030D-6E8A-4147-A177-3AD203B41FA5}">
                      <a16:colId xmlns:a16="http://schemas.microsoft.com/office/drawing/2014/main" val="2946123519"/>
                    </a:ext>
                  </a:extLst>
                </a:gridCol>
              </a:tblGrid>
              <a:tr h="49991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分類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Loosely Coupled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Tightly Coupled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027344"/>
                  </a:ext>
                </a:extLst>
              </a:tr>
              <a:tr h="49991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傳輸方向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單向（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One-way）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雙向（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Two-way）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72368"/>
                  </a:ext>
                </a:extLst>
              </a:tr>
              <a:tr h="49991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接收方回覆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不需要回覆（Send-and-forget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需要回覆（同步或非同步）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453253"/>
                  </a:ext>
                </a:extLst>
              </a:tr>
              <a:tr h="874848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通訊依賴性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低，彼此無需高度協調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高，需要雙方協調時序與資料一致性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065429"/>
                  </a:ext>
                </a:extLst>
              </a:tr>
              <a:tr h="874848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UDP、Event notification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RPC、Socket-based</a:t>
                      </a:r>
                      <a:r>
                        <a:rPr 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request/response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24668"/>
                  </a:ext>
                </a:extLst>
              </a:tr>
              <a:tr h="49991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適用場景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快速通知、容忍資料遺失的場景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需要資料一致性與確認的場景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066588"/>
                  </a:ext>
                </a:extLst>
              </a:tr>
            </a:tbl>
          </a:graphicData>
        </a:graphic>
      </p:graphicFrame>
      <p:pic>
        <p:nvPicPr>
          <p:cNvPr id="7" name="圖片 6">
            <a:extLst>
              <a:ext uri="{FF2B5EF4-FFF2-40B4-BE49-F238E27FC236}">
                <a16:creationId xmlns:a16="http://schemas.microsoft.com/office/drawing/2014/main" id="{49DA5909-FA88-AAA6-A8C3-9416ED2B3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63" y="5046604"/>
            <a:ext cx="4929188" cy="151251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695DA09-73F9-E0A3-112A-D20234231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03" y="4927110"/>
            <a:ext cx="4552950" cy="19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60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432D7F-4FD2-DA56-5C41-A9B49349D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0"/>
            <a:ext cx="10515600" cy="1325563"/>
          </a:xfrm>
        </p:spPr>
        <p:txBody>
          <a:bodyPr/>
          <a:lstStyle/>
          <a:p>
            <a:r>
              <a:rPr lang="en-US" altLang="zh-TW" dirty="0"/>
              <a:t>Synchronization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50EE9A-C7DD-13F8-CB15-35B3D1336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resource synchronization</a:t>
            </a:r>
          </a:p>
          <a:p>
            <a:pPr lvl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共享資源的安全存取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4400" dirty="0"/>
              <a:t>activity synchronization</a:t>
            </a:r>
          </a:p>
          <a:p>
            <a:pPr lvl="1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行為同步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DB97B1B3-5E6E-2829-91D8-641AA3BA36F7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120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A9A8E-B2D9-7D80-DC6E-8A46B331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7" y="0"/>
            <a:ext cx="10515600" cy="1325563"/>
          </a:xfrm>
        </p:spPr>
        <p:txBody>
          <a:bodyPr/>
          <a:lstStyle/>
          <a:p>
            <a:r>
              <a:rPr lang="en-US" altLang="zh-TW" dirty="0"/>
              <a:t>Resource Synchronization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075675-5815-52CD-9A9C-14C622FF8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400" dirty="0"/>
              <a:t>Mutual exclusion</a:t>
            </a:r>
          </a:p>
          <a:p>
            <a:r>
              <a:rPr lang="en-US" altLang="zh-TW" sz="4400" dirty="0"/>
              <a:t>Critical section</a:t>
            </a:r>
          </a:p>
          <a:p>
            <a:r>
              <a:rPr lang="en-US" altLang="zh-TW" sz="4400" dirty="0"/>
              <a:t>client-server model</a:t>
            </a:r>
            <a:endParaRPr lang="zh-TW" altLang="en-US" sz="4400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102A8665-E1A9-1153-2B5B-310919BE46F3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61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11830C-3FC7-01E3-59B2-71D65408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18255"/>
            <a:ext cx="10515600" cy="1325563"/>
          </a:xfrm>
        </p:spPr>
        <p:txBody>
          <a:bodyPr/>
          <a:lstStyle/>
          <a:p>
            <a:r>
              <a:rPr lang="en-US" altLang="zh-TW" dirty="0"/>
              <a:t>Activity Synchronization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5867EA-503D-DB6F-D244-36D2832E9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/>
              <a:t>Barrier Sync</a:t>
            </a:r>
          </a:p>
          <a:p>
            <a:r>
              <a:rPr lang="en-US" altLang="zh-TW" sz="4000" dirty="0"/>
              <a:t>Rendezvous Sync</a:t>
            </a:r>
            <a:r>
              <a:rPr lang="zh-TW" altLang="en-US" sz="4000" dirty="0"/>
              <a:t> </a:t>
            </a:r>
            <a:r>
              <a:rPr lang="en-US" altLang="zh-TW" sz="4000" dirty="0"/>
              <a:t>(</a:t>
            </a:r>
            <a:r>
              <a:rPr lang="zh-TW" altLang="en-US" sz="4000" b="0" i="0" dirty="0">
                <a:solidFill>
                  <a:srgbClr val="303233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交會同步</a:t>
            </a:r>
            <a:r>
              <a:rPr lang="en-US" altLang="zh-TW" sz="4000" dirty="0"/>
              <a:t>)</a:t>
            </a:r>
            <a:endParaRPr lang="zh-TW" altLang="en-US" sz="4000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0FADF3A-4E35-6ADC-8D66-706A43DB6518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748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6645-8631-A7EE-90C0-77A1C53D5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297A93-A38E-1154-0639-1D415EC8F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64" y="-38118"/>
            <a:ext cx="10515600" cy="1325563"/>
          </a:xfrm>
        </p:spPr>
        <p:txBody>
          <a:bodyPr/>
          <a:lstStyle/>
          <a:p>
            <a:r>
              <a:rPr lang="en-US" altLang="zh-TW" dirty="0"/>
              <a:t>Rendezvous Synchronization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22FA860-5F9E-B2CB-4E69-14586FA7F606}"/>
              </a:ext>
            </a:extLst>
          </p:cNvPr>
          <p:cNvCxnSpPr>
            <a:cxnSpLocks/>
          </p:cNvCxnSpPr>
          <p:nvPr/>
        </p:nvCxnSpPr>
        <p:spPr>
          <a:xfrm>
            <a:off x="6618765" y="1900569"/>
            <a:ext cx="0" cy="433276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050FF482-01A3-79D9-6B8C-5D8EBEA2EFC4}"/>
              </a:ext>
            </a:extLst>
          </p:cNvPr>
          <p:cNvSpPr/>
          <p:nvPr/>
        </p:nvSpPr>
        <p:spPr>
          <a:xfrm>
            <a:off x="2383465" y="4571998"/>
            <a:ext cx="2021954" cy="1238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Caller</a:t>
            </a:r>
            <a:endParaRPr lang="zh-TW" altLang="en-US" sz="3200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4DF562A3-BEE5-F3BB-9ACA-6318AB4E6084}"/>
              </a:ext>
            </a:extLst>
          </p:cNvPr>
          <p:cNvSpPr/>
          <p:nvPr/>
        </p:nvSpPr>
        <p:spPr>
          <a:xfrm>
            <a:off x="6712697" y="4571998"/>
            <a:ext cx="2021954" cy="1238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188D9246-B903-AD56-A9BD-C1307072E185}"/>
              </a:ext>
            </a:extLst>
          </p:cNvPr>
          <p:cNvSpPr/>
          <p:nvPr/>
        </p:nvSpPr>
        <p:spPr>
          <a:xfrm>
            <a:off x="4533011" y="2289544"/>
            <a:ext cx="2021954" cy="123869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481E5293-D50C-887D-6CC7-CCF900D87D66}"/>
              </a:ext>
            </a:extLst>
          </p:cNvPr>
          <p:cNvSpPr/>
          <p:nvPr/>
        </p:nvSpPr>
        <p:spPr>
          <a:xfrm>
            <a:off x="4547188" y="4571998"/>
            <a:ext cx="2021954" cy="1238693"/>
          </a:xfrm>
          <a:prstGeom prst="rightArrow">
            <a:avLst/>
          </a:prstGeom>
          <a:noFill/>
          <a:ln w="762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D6B9F64-7A9F-8A80-5740-B43D2314AC4B}"/>
              </a:ext>
            </a:extLst>
          </p:cNvPr>
          <p:cNvCxnSpPr>
            <a:cxnSpLocks/>
          </p:cNvCxnSpPr>
          <p:nvPr/>
        </p:nvCxnSpPr>
        <p:spPr>
          <a:xfrm>
            <a:off x="4453255" y="1900569"/>
            <a:ext cx="0" cy="433276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42C0C24F-8822-3FB8-7467-1DC617314205}"/>
              </a:ext>
            </a:extLst>
          </p:cNvPr>
          <p:cNvSpPr/>
          <p:nvPr/>
        </p:nvSpPr>
        <p:spPr>
          <a:xfrm>
            <a:off x="6762321" y="2286002"/>
            <a:ext cx="2021954" cy="1238693"/>
          </a:xfrm>
          <a:prstGeom prst="rightArrow">
            <a:avLst/>
          </a:prstGeom>
          <a:noFill/>
          <a:ln w="762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F4A8B501-C53D-1B90-0672-A1605584A6C8}"/>
              </a:ext>
            </a:extLst>
          </p:cNvPr>
          <p:cNvSpPr/>
          <p:nvPr/>
        </p:nvSpPr>
        <p:spPr>
          <a:xfrm>
            <a:off x="2287746" y="2286001"/>
            <a:ext cx="2021954" cy="1238693"/>
          </a:xfrm>
          <a:prstGeom prst="rightArrow">
            <a:avLst/>
          </a:prstGeom>
          <a:noFill/>
          <a:ln w="762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accent6"/>
                </a:solidFill>
              </a:rPr>
              <a:t>Callee</a:t>
            </a:r>
            <a:endParaRPr lang="zh-TW" altLang="en-US" sz="3200" dirty="0">
              <a:solidFill>
                <a:schemeClr val="accent6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8C6FFB8-BEAA-0CBE-F18A-A89CDF68C2DE}"/>
              </a:ext>
            </a:extLst>
          </p:cNvPr>
          <p:cNvSpPr txBox="1"/>
          <p:nvPr/>
        </p:nvSpPr>
        <p:spPr>
          <a:xfrm>
            <a:off x="3997842" y="1427738"/>
            <a:ext cx="1249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Entry</a:t>
            </a:r>
            <a:endParaRPr lang="zh-TW" altLang="en-US" dirty="0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2DE7FC1F-50E6-D372-BB0E-959B689D7291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533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B7EF-7B02-FB05-1DA3-6D3779A00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F74D8C-354E-BCDD-90C2-7103D95A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38118"/>
            <a:ext cx="10515600" cy="1325563"/>
          </a:xfrm>
        </p:spPr>
        <p:txBody>
          <a:bodyPr/>
          <a:lstStyle/>
          <a:p>
            <a:r>
              <a:rPr lang="en-US" altLang="zh-TW" dirty="0"/>
              <a:t>Rendezvous Synchronization</a:t>
            </a:r>
            <a:endParaRPr lang="zh-TW" altLang="en-US" dirty="0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DB9D4ED1-F3B9-4307-B4EE-43241E91547A}"/>
              </a:ext>
            </a:extLst>
          </p:cNvPr>
          <p:cNvCxnSpPr>
            <a:cxnSpLocks/>
          </p:cNvCxnSpPr>
          <p:nvPr/>
        </p:nvCxnSpPr>
        <p:spPr>
          <a:xfrm>
            <a:off x="6618765" y="1900569"/>
            <a:ext cx="0" cy="433276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9E045476-B839-76C1-DEAF-DF2C2E77CCF8}"/>
              </a:ext>
            </a:extLst>
          </p:cNvPr>
          <p:cNvSpPr/>
          <p:nvPr/>
        </p:nvSpPr>
        <p:spPr>
          <a:xfrm>
            <a:off x="2383465" y="4571998"/>
            <a:ext cx="2021954" cy="1238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Caller</a:t>
            </a:r>
            <a:endParaRPr lang="zh-TW" altLang="en-US" sz="3200" dirty="0"/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4D2168B6-D17E-50CC-A3D8-E06E0E9BA36F}"/>
              </a:ext>
            </a:extLst>
          </p:cNvPr>
          <p:cNvSpPr/>
          <p:nvPr/>
        </p:nvSpPr>
        <p:spPr>
          <a:xfrm>
            <a:off x="6712697" y="4571998"/>
            <a:ext cx="2021954" cy="12386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0469596C-2074-4658-843F-65B6475B79B9}"/>
              </a:ext>
            </a:extLst>
          </p:cNvPr>
          <p:cNvSpPr/>
          <p:nvPr/>
        </p:nvSpPr>
        <p:spPr>
          <a:xfrm>
            <a:off x="4533011" y="2289544"/>
            <a:ext cx="2021954" cy="123869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D3FEC79F-8551-FC42-BCEC-2C761F708757}"/>
              </a:ext>
            </a:extLst>
          </p:cNvPr>
          <p:cNvSpPr/>
          <p:nvPr/>
        </p:nvSpPr>
        <p:spPr>
          <a:xfrm>
            <a:off x="4547188" y="4571998"/>
            <a:ext cx="2021954" cy="1238693"/>
          </a:xfrm>
          <a:prstGeom prst="rightArrow">
            <a:avLst/>
          </a:prstGeom>
          <a:noFill/>
          <a:ln w="762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93682CB6-9A6A-1260-8E36-2F92D04C5DE4}"/>
              </a:ext>
            </a:extLst>
          </p:cNvPr>
          <p:cNvCxnSpPr>
            <a:cxnSpLocks/>
          </p:cNvCxnSpPr>
          <p:nvPr/>
        </p:nvCxnSpPr>
        <p:spPr>
          <a:xfrm>
            <a:off x="4453255" y="1900569"/>
            <a:ext cx="0" cy="433276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C42724C6-2F04-E75E-F791-CABBFDE24B33}"/>
              </a:ext>
            </a:extLst>
          </p:cNvPr>
          <p:cNvSpPr/>
          <p:nvPr/>
        </p:nvSpPr>
        <p:spPr>
          <a:xfrm>
            <a:off x="6762321" y="2286002"/>
            <a:ext cx="2021954" cy="1238693"/>
          </a:xfrm>
          <a:prstGeom prst="rightArrow">
            <a:avLst/>
          </a:prstGeom>
          <a:noFill/>
          <a:ln w="762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59C676D8-5E38-1565-EDE6-5FBBEB229167}"/>
              </a:ext>
            </a:extLst>
          </p:cNvPr>
          <p:cNvSpPr/>
          <p:nvPr/>
        </p:nvSpPr>
        <p:spPr>
          <a:xfrm>
            <a:off x="2287746" y="2286001"/>
            <a:ext cx="2021954" cy="1238693"/>
          </a:xfrm>
          <a:prstGeom prst="rightArrow">
            <a:avLst/>
          </a:prstGeom>
          <a:noFill/>
          <a:ln w="762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accent6"/>
                </a:solidFill>
              </a:rPr>
              <a:t>Callee</a:t>
            </a:r>
            <a:endParaRPr lang="zh-TW" altLang="en-US" sz="3200" dirty="0">
              <a:solidFill>
                <a:schemeClr val="accent6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B27539D-1ABE-4DB4-466C-AB7863BF8AF4}"/>
              </a:ext>
            </a:extLst>
          </p:cNvPr>
          <p:cNvSpPr txBox="1"/>
          <p:nvPr/>
        </p:nvSpPr>
        <p:spPr>
          <a:xfrm>
            <a:off x="3997842" y="1427738"/>
            <a:ext cx="1249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Entry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9EF615-78BA-A83D-6C7D-7F475B75D588}"/>
              </a:ext>
            </a:extLst>
          </p:cNvPr>
          <p:cNvSpPr/>
          <p:nvPr/>
        </p:nvSpPr>
        <p:spPr>
          <a:xfrm>
            <a:off x="3274828" y="2160840"/>
            <a:ext cx="4237069" cy="37668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800" dirty="0">
                <a:solidFill>
                  <a:srgbClr val="FF0000"/>
                </a:solidFill>
              </a:rPr>
              <a:t>Rendezvous</a:t>
            </a:r>
            <a:endParaRPr lang="zh-TW" altLang="en-US" sz="4800" dirty="0">
              <a:solidFill>
                <a:srgbClr val="FF0000"/>
              </a:solidFill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125C13F2-B503-68DD-BA60-05513DAA8098}"/>
              </a:ext>
            </a:extLst>
          </p:cNvPr>
          <p:cNvCxnSpPr>
            <a:cxnSpLocks/>
          </p:cNvCxnSpPr>
          <p:nvPr/>
        </p:nvCxnSpPr>
        <p:spPr>
          <a:xfrm>
            <a:off x="508001" y="1006764"/>
            <a:ext cx="11102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000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967AC0-F9D9-3BB6-BC63-AE266935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Rendezvous Synchronization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F4F6EB9-488A-3AAD-6AE9-E22CF3586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14" y="1996267"/>
            <a:ext cx="9715571" cy="4010054"/>
          </a:xfrm>
        </p:spPr>
      </p:pic>
    </p:spTree>
    <p:extLst>
      <p:ext uri="{BB962C8B-B14F-4D97-AF65-F5344CB8AC3E}">
        <p14:creationId xmlns:p14="http://schemas.microsoft.com/office/powerpoint/2010/main" val="941637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93F695-5212-942C-1909-3318642C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Barrier Synchronization 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2020686-C4B9-DD1C-D11B-6810AE915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2510" y="2034291"/>
            <a:ext cx="6586980" cy="3528309"/>
          </a:xfrm>
        </p:spPr>
      </p:pic>
    </p:spTree>
    <p:extLst>
      <p:ext uri="{BB962C8B-B14F-4D97-AF65-F5344CB8AC3E}">
        <p14:creationId xmlns:p14="http://schemas.microsoft.com/office/powerpoint/2010/main" val="175730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1682</Words>
  <Application>Microsoft Office PowerPoint</Application>
  <PresentationFormat>寬螢幕</PresentationFormat>
  <Paragraphs>242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標楷體</vt:lpstr>
      <vt:lpstr>Aptos</vt:lpstr>
      <vt:lpstr>Aptos Display</vt:lpstr>
      <vt:lpstr>Arial</vt:lpstr>
      <vt:lpstr>Times New Roman</vt:lpstr>
      <vt:lpstr>Wingdings</vt:lpstr>
      <vt:lpstr>Office 佈景主題</vt:lpstr>
      <vt:lpstr>嵌入式作業系統 ICP5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Synchronization</vt:lpstr>
      <vt:lpstr>Resource Synchronization</vt:lpstr>
      <vt:lpstr>Activity Synchronization</vt:lpstr>
      <vt:lpstr>Rendezvous Synchronization</vt:lpstr>
      <vt:lpstr>Rendezvous Synchronization</vt:lpstr>
      <vt:lpstr>Rendezvous Synchronization</vt:lpstr>
      <vt:lpstr>Barrier Synchronization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王睿讚</dc:creator>
  <cp:lastModifiedBy>王睿讚</cp:lastModifiedBy>
  <cp:revision>2</cp:revision>
  <dcterms:created xsi:type="dcterms:W3CDTF">2025-05-08T09:37:03Z</dcterms:created>
  <dcterms:modified xsi:type="dcterms:W3CDTF">2025-05-08T11:34:43Z</dcterms:modified>
</cp:coreProperties>
</file>